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63" r:id="rId6"/>
    <p:sldId id="264" r:id="rId7"/>
    <p:sldId id="259" r:id="rId8"/>
    <p:sldId id="260" r:id="rId9"/>
    <p:sldId id="261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A92313-FA97-4E0B-92F5-FB95730A2276}" v="1" dt="2025-10-23T22:15:49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09"/>
  </p:normalViewPr>
  <p:slideViewPr>
    <p:cSldViewPr snapToGrid="0">
      <p:cViewPr>
        <p:scale>
          <a:sx n="63" d="100"/>
          <a:sy n="63" d="100"/>
        </p:scale>
        <p:origin x="1713" y="83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leen Chen" userId="396908d72ea96b91" providerId="LiveId" clId="{2C2110AC-A726-4CAF-A209-829117556F38}"/>
    <pc:docChg chg="custSel addSld modSld">
      <pc:chgData name="Eileen Chen" userId="396908d72ea96b91" providerId="LiveId" clId="{2C2110AC-A726-4CAF-A209-829117556F38}" dt="2025-10-23T22:23:06.736" v="441" actId="20577"/>
      <pc:docMkLst>
        <pc:docMk/>
      </pc:docMkLst>
      <pc:sldChg chg="addSp delSp modSp new mod">
        <pc:chgData name="Eileen Chen" userId="396908d72ea96b91" providerId="LiveId" clId="{2C2110AC-A726-4CAF-A209-829117556F38}" dt="2025-10-23T22:23:06.736" v="441" actId="20577"/>
        <pc:sldMkLst>
          <pc:docMk/>
          <pc:sldMk cId="4048184690" sldId="265"/>
        </pc:sldMkLst>
        <pc:spChg chg="mod">
          <ac:chgData name="Eileen Chen" userId="396908d72ea96b91" providerId="LiveId" clId="{2C2110AC-A726-4CAF-A209-829117556F38}" dt="2025-10-23T22:23:06.736" v="441" actId="20577"/>
          <ac:spMkLst>
            <pc:docMk/>
            <pc:sldMk cId="4048184690" sldId="265"/>
            <ac:spMk id="2" creationId="{8A84509D-FFD7-71B5-CC5C-F91761233157}"/>
          </ac:spMkLst>
        </pc:spChg>
        <pc:spChg chg="mod">
          <ac:chgData name="Eileen Chen" userId="396908d72ea96b91" providerId="LiveId" clId="{2C2110AC-A726-4CAF-A209-829117556F38}" dt="2025-10-23T22:22:34.806" v="384" actId="14100"/>
          <ac:spMkLst>
            <pc:docMk/>
            <pc:sldMk cId="4048184690" sldId="265"/>
            <ac:spMk id="3" creationId="{31A7D502-7B62-9E60-53DF-FF0AB188BF85}"/>
          </ac:spMkLst>
        </pc:spChg>
        <pc:spChg chg="del mod">
          <ac:chgData name="Eileen Chen" userId="396908d72ea96b91" providerId="LiveId" clId="{2C2110AC-A726-4CAF-A209-829117556F38}" dt="2025-10-23T22:16:17.948" v="10" actId="478"/>
          <ac:spMkLst>
            <pc:docMk/>
            <pc:sldMk cId="4048184690" sldId="265"/>
            <ac:spMk id="4" creationId="{7AE3E3B0-CDDF-7A37-193A-8F98D1DF65A5}"/>
          </ac:spMkLst>
        </pc:spChg>
        <pc:picChg chg="add mod">
          <ac:chgData name="Eileen Chen" userId="396908d72ea96b91" providerId="LiveId" clId="{2C2110AC-A726-4CAF-A209-829117556F38}" dt="2025-10-23T22:16:33.870" v="15" actId="962"/>
          <ac:picMkLst>
            <pc:docMk/>
            <pc:sldMk cId="4048184690" sldId="265"/>
            <ac:picMk id="6" creationId="{CB571CAD-88BD-6F3A-33A0-C27939299BF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4512e46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4512e46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4512e463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4512e463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4512e463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4512e463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4512e463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4512e463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4512e463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4512e463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010210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8" name="Rectangle 7"/>
          <p:cNvSpPr/>
          <p:nvPr/>
        </p:nvSpPr>
        <p:spPr>
          <a:xfrm>
            <a:off x="690626" y="3224773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9" name="Rectangle 8"/>
          <p:cNvSpPr/>
          <p:nvPr/>
        </p:nvSpPr>
        <p:spPr>
          <a:xfrm>
            <a:off x="690626" y="1113584"/>
            <a:ext cx="7667244" cy="20574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0" name="Group 9"/>
          <p:cNvGrpSpPr/>
          <p:nvPr/>
        </p:nvGrpSpPr>
        <p:grpSpPr>
          <a:xfrm>
            <a:off x="7236911" y="3051692"/>
            <a:ext cx="810678" cy="810677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074167"/>
            <a:ext cx="7475220" cy="2276856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3291840"/>
            <a:ext cx="5918454" cy="802386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3217001"/>
            <a:ext cx="895401" cy="480060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873973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82044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688492"/>
            <a:ext cx="9144000" cy="145500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918972"/>
            <a:ext cx="6960870" cy="264033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3765042"/>
            <a:ext cx="6789420" cy="8001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4704588"/>
            <a:ext cx="1983232" cy="273844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4704588"/>
            <a:ext cx="4745736" cy="273844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73049" y="1744386"/>
            <a:ext cx="810678" cy="810677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1879600"/>
            <a:ext cx="891224" cy="540249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9439322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366230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3820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39179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52437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50"/>
            <a:ext cx="5033772" cy="3765042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622585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10/23/2025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1327616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8704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00050"/>
            <a:ext cx="1914525" cy="4229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400050"/>
            <a:ext cx="5629275" cy="4229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515682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4133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0735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70878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Clustering Update Meeting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271513" y="3325434"/>
            <a:ext cx="5918454" cy="8023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10/8/2025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505707" y="1089286"/>
            <a:ext cx="813258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340654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" sz="2520" dirty="0">
                <a:latin typeface="Times New Roman"/>
                <a:ea typeface="Times New Roman"/>
                <a:cs typeface="Times New Roman"/>
                <a:sym typeface="Times New Roman"/>
              </a:rPr>
              <a:t>Slope between avg T24 log2fc and avg T0 log2fc</a:t>
            </a:r>
            <a:endParaRPr sz="252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0654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" sz="2520" dirty="0">
                <a:latin typeface="Times New Roman"/>
                <a:ea typeface="Times New Roman"/>
                <a:cs typeface="Times New Roman"/>
                <a:sym typeface="Times New Roman"/>
              </a:rPr>
              <a:t>Slope between avg T48 log2fc and avg T24 log2fc</a:t>
            </a:r>
            <a:endParaRPr sz="252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0654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" sz="2520" dirty="0">
                <a:latin typeface="Times New Roman"/>
                <a:ea typeface="Times New Roman"/>
                <a:cs typeface="Times New Roman"/>
                <a:sym typeface="Times New Roman"/>
              </a:rPr>
              <a:t>Slope between avg T72 log2fc and avg T48 log2fc</a:t>
            </a:r>
            <a:endParaRPr sz="252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0654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" sz="2520" dirty="0">
                <a:latin typeface="Times New Roman"/>
                <a:ea typeface="Times New Roman"/>
                <a:cs typeface="Times New Roman"/>
                <a:sym typeface="Times New Roman"/>
              </a:rPr>
              <a:t>Average </a:t>
            </a:r>
            <a:r>
              <a:rPr lang="en-US" sz="2520" dirty="0">
                <a:latin typeface="Times New Roman"/>
                <a:ea typeface="Times New Roman"/>
                <a:cs typeface="Times New Roman"/>
                <a:sym typeface="Times New Roman"/>
              </a:rPr>
              <a:t>slope:</a:t>
            </a:r>
            <a:r>
              <a:rPr lang="en" sz="2520" dirty="0">
                <a:latin typeface="Times New Roman"/>
                <a:ea typeface="Times New Roman"/>
                <a:cs typeface="Times New Roman"/>
                <a:sym typeface="Times New Roman"/>
              </a:rPr>
              <a:t> Average slope score between 1, 2, and 3</a:t>
            </a:r>
          </a:p>
          <a:p>
            <a:pPr marL="457200" lvl="0" indent="-340654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-US" sz="2520" dirty="0">
                <a:latin typeface="Times New Roman"/>
                <a:ea typeface="Times New Roman"/>
                <a:cs typeface="Times New Roman"/>
                <a:sym typeface="Times New Roman"/>
              </a:rPr>
              <a:t>Total slope: Linear regression across all time points from T0 to T72</a:t>
            </a:r>
            <a:endParaRPr sz="252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0654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" sz="2520" dirty="0">
                <a:latin typeface="Times New Roman"/>
                <a:ea typeface="Times New Roman"/>
                <a:cs typeface="Times New Roman"/>
                <a:sym typeface="Times New Roman"/>
              </a:rPr>
              <a:t>Slope between avg T48 log2fc and avg T0 log2fc</a:t>
            </a:r>
            <a:endParaRPr sz="252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0654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" sz="2520" dirty="0">
                <a:latin typeface="Times New Roman"/>
                <a:ea typeface="Times New Roman"/>
                <a:cs typeface="Times New Roman"/>
                <a:sym typeface="Times New Roman"/>
              </a:rPr>
              <a:t>Slope between avg T72 log2fc and avg T0 log2fc</a:t>
            </a:r>
            <a:endParaRPr sz="252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0654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" sz="2520" dirty="0">
                <a:latin typeface="Times New Roman"/>
                <a:ea typeface="Times New Roman"/>
                <a:cs typeface="Times New Roman"/>
                <a:sym typeface="Times New Roman"/>
              </a:rPr>
              <a:t>"avg T72 log2fc” Score</a:t>
            </a:r>
            <a:endParaRPr sz="25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Tried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788779" y="1152011"/>
            <a:ext cx="3417461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</a:p>
          <a:p>
            <a:pPr marL="285750" indent="-285750">
              <a:lnSpc>
                <a:spcPct val="150000"/>
              </a:lnSpc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/ 4D / 7D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Model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Clustering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Shift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DBSCAN</a:t>
            </a: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4294967295"/>
          </p:nvPr>
        </p:nvSpPr>
        <p:spPr>
          <a:xfrm>
            <a:off x="4206240" y="1152011"/>
            <a:ext cx="4452730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into 2 clusters</a:t>
            </a:r>
            <a:endParaRPr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0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are negative slopes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Steeper than Label 1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1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both negative and positive slopes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12A4-D6CD-AE11-3BD3-BED995A5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 = 5633)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E52F9-932E-CC5D-087A-1640FAA30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6769" y="1016983"/>
            <a:ext cx="3157641" cy="3416400"/>
          </a:xfrm>
        </p:spPr>
        <p:txBody>
          <a:bodyPr anchor="ctr"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"avg T72 log2fc” Score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" sz="16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Average </a:t>
            </a:r>
            <a:r>
              <a:rPr lang="en-US" sz="16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slope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A graph of a number of clusters&#10;&#10;Description automatically generated">
            <a:extLst>
              <a:ext uri="{FF2B5EF4-FFF2-40B4-BE49-F238E27FC236}">
                <a16:creationId xmlns:a16="http://schemas.microsoft.com/office/drawing/2014/main" id="{98AC26CA-A046-693C-1F46-BAC13CE22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68" y="1084729"/>
            <a:ext cx="4555201" cy="34164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F6E17F-0945-33B4-C90A-22272D39B6D2}"/>
              </a:ext>
            </a:extLst>
          </p:cNvPr>
          <p:cNvSpPr txBox="1">
            <a:spLocks/>
          </p:cNvSpPr>
          <p:nvPr/>
        </p:nvSpPr>
        <p:spPr>
          <a:xfrm>
            <a:off x="4572000" y="1152475"/>
            <a:ext cx="3157641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457200" lvl="0" indent="-3429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800"/>
              <a:buFont typeface="Wingdings" pitchFamily="2" charset="2"/>
              <a:buChar char="●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400"/>
              <a:buFont typeface="Wingdings" pitchFamily="2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175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400"/>
              <a:buFont typeface="Wingdings" pitchFamily="2" charset="2"/>
              <a:buChar char="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175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400"/>
              <a:buFont typeface="Wingdings" pitchFamily="2" charset="2"/>
              <a:buChar char="●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400"/>
              <a:buFont typeface="Wingdings" pitchFamily="2" charset="2"/>
              <a:buChar char="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400"/>
              <a:buFont typeface="Wingdings" pitchFamily="2" charset="2"/>
              <a:buChar char="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400"/>
              <a:buFont typeface="Wingdings" pitchFamily="2" charset="2"/>
              <a:buChar char="●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400"/>
              <a:buFont typeface="Wingdings" pitchFamily="2" charset="2"/>
              <a:buChar char="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400"/>
              <a:buFont typeface="Wingdings" pitchFamily="2" charset="2"/>
              <a:buChar char="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723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B592B-27D8-B7CB-9648-05D16C1B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9FEC5-D34F-ABFF-6066-242EB9E1A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66900" y="1022438"/>
            <a:ext cx="3793006" cy="3416400"/>
          </a:xfrm>
        </p:spPr>
        <p:txBody>
          <a:bodyPr>
            <a:normAutofit lnSpcReduction="10000"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4D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Slope between avg T24 log2fc and avg T0 log2fc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Slope between avg T48 log2fc and avg T24 log2fc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Slope between avg T72 log2fc and avg T48 log2fc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Total Slope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graph of a number of clusters&#10;&#10;Description automatically generated">
            <a:extLst>
              <a:ext uri="{FF2B5EF4-FFF2-40B4-BE49-F238E27FC236}">
                <a16:creationId xmlns:a16="http://schemas.microsoft.com/office/drawing/2014/main" id="{6A002C28-0E12-AA1B-5A2F-9CC42F43C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229056"/>
            <a:ext cx="4555200" cy="34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520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B592B-27D8-B7CB-9648-05D16C1B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9FEC5-D34F-ABFF-6066-242EB9E1A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37529" y="1022438"/>
            <a:ext cx="4561484" cy="3416400"/>
          </a:xfrm>
        </p:spPr>
        <p:txBody>
          <a:bodyPr>
            <a:noAutofit/>
          </a:bodyPr>
          <a:lstStyle/>
          <a:p>
            <a:pPr marL="114300" indent="0">
              <a:lnSpc>
                <a:spcPct val="17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7D</a:t>
            </a:r>
          </a:p>
          <a:p>
            <a:pPr marL="114300" indent="0">
              <a:lnSpc>
                <a:spcPct val="17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include: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Slope between avg T24 log2fc and avg T0 log2fc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Slope between avg T48 log2fc and avg T24 log2fc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Slope between avg T72 log2fc and avg T48 log2fc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Total Slope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Slope between avg T48 log2fc and avg T0 log2fc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Slope between avg T72 log2fc and avg T0 log2fc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"avg T72 log2fc” Score</a:t>
            </a:r>
            <a:endParaRPr lang="en-US"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Picture 2" descr="A graph of a number of clusters&#10;&#10;Description automatically generated">
            <a:extLst>
              <a:ext uri="{FF2B5EF4-FFF2-40B4-BE49-F238E27FC236}">
                <a16:creationId xmlns:a16="http://schemas.microsoft.com/office/drawing/2014/main" id="{70B8EA2F-9651-8867-35B0-8E394E741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017725"/>
            <a:ext cx="4260300" cy="342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58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AAD4E9-7572-5F22-E51A-1FE61B9AEFD9}"/>
              </a:ext>
            </a:extLst>
          </p:cNvPr>
          <p:cNvSpPr txBox="1"/>
          <p:nvPr/>
        </p:nvSpPr>
        <p:spPr>
          <a:xfrm>
            <a:off x="556591" y="1202144"/>
            <a:ext cx="803081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bad clustering for all results: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data points in Label 0 have a smaller avg T72 log2fc value compared to Label 1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overlaps between the two clusters, but they are all within the margin of:</a:t>
            </a: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or less for “avg T72 score”</a:t>
            </a: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than 0.05 for the average slope score</a:t>
            </a: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0.05 or less for the total slope score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Compared to Original Ranks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5978385" y="1152475"/>
            <a:ext cx="2853889" cy="3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compared with the counts of each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rank: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Spectral Clustering 4D and 7D models have a higher similarity with the original ranking.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b="50712"/>
          <a:stretch/>
        </p:blipFill>
        <p:spPr>
          <a:xfrm>
            <a:off x="582045" y="1152550"/>
            <a:ext cx="2443225" cy="3582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17"/>
          <p:cNvGrpSpPr/>
          <p:nvPr/>
        </p:nvGrpSpPr>
        <p:grpSpPr>
          <a:xfrm>
            <a:off x="3371354" y="1152475"/>
            <a:ext cx="2260948" cy="3582509"/>
            <a:chOff x="2636300" y="2162150"/>
            <a:chExt cx="1728950" cy="2739549"/>
          </a:xfrm>
        </p:grpSpPr>
        <p:pic>
          <p:nvPicPr>
            <p:cNvPr id="83" name="Google Shape;83;p17"/>
            <p:cNvPicPr preferRelativeResize="0"/>
            <p:nvPr/>
          </p:nvPicPr>
          <p:blipFill rotWithShape="1">
            <a:blip r:embed="rId3">
              <a:alphaModFix/>
            </a:blip>
            <a:srcRect t="48717"/>
            <a:stretch/>
          </p:blipFill>
          <p:spPr>
            <a:xfrm>
              <a:off x="2636300" y="2264024"/>
              <a:ext cx="1728950" cy="26376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7"/>
            <p:cNvPicPr preferRelativeResize="0"/>
            <p:nvPr/>
          </p:nvPicPr>
          <p:blipFill rotWithShape="1">
            <a:blip r:embed="rId3">
              <a:alphaModFix/>
            </a:blip>
            <a:srcRect b="98019"/>
            <a:stretch/>
          </p:blipFill>
          <p:spPr>
            <a:xfrm>
              <a:off x="2636300" y="2162150"/>
              <a:ext cx="1728950" cy="1018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Again on Each Label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5721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0 – Spectral Clustering 4D</a:t>
            </a:r>
            <a:endParaRPr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size: 4260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1 – Spectral Clustering 4D</a:t>
            </a:r>
            <a:endParaRPr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Size: 1373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" name="Google Shape;92;p18" title="label_1_only_4D_sp_2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4325" y="1934250"/>
            <a:ext cx="3709099" cy="278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label_0_only_4d_s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688" y="1934250"/>
            <a:ext cx="3821925" cy="278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4509D-FFD7-71B5-CC5C-F91761233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Classification ML Model with </a:t>
            </a:r>
            <a:r>
              <a:rPr lang="en-US"/>
              <a:t>new Clusters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7D502-7B62-9E60-53DF-FF0AB188B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4496520" cy="3678605"/>
          </a:xfrm>
        </p:spPr>
        <p:txBody>
          <a:bodyPr>
            <a:normAutofit/>
          </a:bodyPr>
          <a:lstStyle/>
          <a:p>
            <a:pPr marL="139700" indent="0">
              <a:buNone/>
            </a:pPr>
            <a:r>
              <a:rPr lang="en-US" sz="1600" dirty="0"/>
              <a:t>Random Forest Classifier – Cluster Label</a:t>
            </a:r>
          </a:p>
          <a:p>
            <a:r>
              <a:rPr lang="en-US" sz="1600" dirty="0"/>
              <a:t>Accuracy: 81%</a:t>
            </a:r>
          </a:p>
          <a:p>
            <a:r>
              <a:rPr lang="en-US" sz="1600" dirty="0"/>
              <a:t>F1:80 %</a:t>
            </a:r>
          </a:p>
          <a:p>
            <a:r>
              <a:rPr lang="en-US" sz="1600" dirty="0"/>
              <a:t>Precision: 80%</a:t>
            </a:r>
          </a:p>
          <a:p>
            <a:r>
              <a:rPr lang="en-US" sz="1600" dirty="0"/>
              <a:t>Recall: 81%</a:t>
            </a:r>
          </a:p>
          <a:p>
            <a:r>
              <a:rPr lang="en-US" sz="1600" dirty="0"/>
              <a:t>Null Accuracy: 76%</a:t>
            </a:r>
          </a:p>
          <a:p>
            <a:endParaRPr lang="en-US" sz="1600" dirty="0"/>
          </a:p>
          <a:p>
            <a:pPr marL="139700" indent="0">
              <a:buNone/>
            </a:pPr>
            <a:r>
              <a:rPr lang="en-US" sz="1600" dirty="0"/>
              <a:t>Random Forest Classifier – Previous Ranking</a:t>
            </a:r>
          </a:p>
          <a:p>
            <a:r>
              <a:rPr lang="en-US" sz="1600" dirty="0"/>
              <a:t>Accuracy: 81%</a:t>
            </a:r>
          </a:p>
          <a:p>
            <a:r>
              <a:rPr lang="en-US" sz="1600" dirty="0"/>
              <a:t>F1:79%</a:t>
            </a:r>
          </a:p>
          <a:p>
            <a:r>
              <a:rPr lang="en-US" sz="1600" dirty="0"/>
              <a:t>Precision: 80% </a:t>
            </a:r>
          </a:p>
          <a:p>
            <a:r>
              <a:rPr lang="en-US" sz="1600" dirty="0"/>
              <a:t>Recall: 81%</a:t>
            </a:r>
          </a:p>
          <a:p>
            <a:r>
              <a:rPr lang="en-US" sz="1600" dirty="0"/>
              <a:t>Null Accuracy: 76%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571CAD-88BD-6F3A-33A0-C27939299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977" y="1154090"/>
            <a:ext cx="4112324" cy="354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846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{614F2632-FE4F-A446-B868-AD5CA1316024}tf10001070</Template>
  <TotalTime>79</TotalTime>
  <Words>407</Words>
  <Application>Microsoft Office PowerPoint</Application>
  <PresentationFormat>On-screen Show (16:9)</PresentationFormat>
  <Paragraphs>75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Rockwell</vt:lpstr>
      <vt:lpstr>Rockwell Condensed</vt:lpstr>
      <vt:lpstr>Rockwell Extra Bold</vt:lpstr>
      <vt:lpstr>Times New Roman</vt:lpstr>
      <vt:lpstr>Wingdings</vt:lpstr>
      <vt:lpstr>Wood Type</vt:lpstr>
      <vt:lpstr>Clustering Update Meeting</vt:lpstr>
      <vt:lpstr>Features</vt:lpstr>
      <vt:lpstr>What We Tried</vt:lpstr>
      <vt:lpstr>Results (n = 5633)</vt:lpstr>
      <vt:lpstr>Results</vt:lpstr>
      <vt:lpstr>Results</vt:lpstr>
      <vt:lpstr>Results</vt:lpstr>
      <vt:lpstr>Results Compared to Original Ranks</vt:lpstr>
      <vt:lpstr>Clustering Again on Each Label </vt:lpstr>
      <vt:lpstr>Classification ML Model with new Clusters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Update Meeting</dc:title>
  <cp:lastModifiedBy>Eileen Chen</cp:lastModifiedBy>
  <cp:revision>3</cp:revision>
  <dcterms:modified xsi:type="dcterms:W3CDTF">2025-10-23T22:23:11Z</dcterms:modified>
</cp:coreProperties>
</file>
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Raleway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FEE56B-E278-4F36-8FEF-2B0914971B56}">
  <a:tblStyle styleId="{1AFEE56B-E278-4F36-8FEF-2B0914971B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5"/>
    <p:restoredTop sz="94705"/>
  </p:normalViewPr>
  <p:slideViewPr>
    <p:cSldViewPr snapToGrid="0">
      <p:cViewPr varScale="1">
        <p:scale>
          <a:sx n="158" d="100"/>
          <a:sy n="158" d="100"/>
        </p:scale>
        <p:origin x="192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35182902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35182902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3518290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3518290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Rank 1: enriched in library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Rank 2: no data (not cloned or transformed successfully) or had very low counts (generally starting below 130 counts) and were removed from processing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Rank 3: weak depletion, weak enrichment, or no clear trend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Rank 4: Starts out with slow depletion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Rank 5: Slightly steeper depletion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Rank 6: steepest depletion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35182902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35182902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Precision: When predicting something is positive, how often am I correct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Recall: Did I find all the positives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Accuracy: How often am I correct overall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F1: A balance score for both precision and recall. (Will be low if one of the score is high and the other is low)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3518290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3518290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3fd4da6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3fd4da6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5-rank: 14%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4: 16%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3: 14%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2: 5%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3518290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3518290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4085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3518290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3518290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855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35182902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35182902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1719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35182902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35182902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Update Meeting</a:t>
            </a:r>
            <a:endParaRPr sz="450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7/18/25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7650" y="560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Features Included In The Dataset</a:t>
            </a:r>
            <a:endParaRPr sz="300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1375500"/>
            <a:ext cx="7688700" cy="29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Guide in numbers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G = 0; A = 1; C = 2; T = 3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OH encoding guide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Turns each nucleotides in a guide sequence into true (1) or false (0) format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To avoid models reading the guide sequences as continuous numbers.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G/C content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Runs of As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Runs of 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535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dirty="0"/>
              <a:t>What We Tried – Predict Ranks</a:t>
            </a:r>
            <a:endParaRPr sz="302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7650" y="1328600"/>
            <a:ext cx="7688700" cy="35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/>
              <a:t>Predictive Machine Learning Models We Tried</a:t>
            </a:r>
            <a:endParaRPr sz="1800" u="sng" dirty="0"/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Decision Tree Classification</a:t>
            </a: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Random Forest Classification</a:t>
            </a: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K-Nearest Neighbor (KNN)</a:t>
            </a:r>
            <a:endParaRPr sz="1800" dirty="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Convolutional Neural Network (CNN)</a:t>
            </a:r>
            <a:endParaRPr sz="18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u="sng" dirty="0"/>
              <a:t>Approaches We Tried</a:t>
            </a:r>
            <a:endParaRPr sz="1800" u="sng" dirty="0"/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Predict in 5-rank scale: 1, 3, 4, 5, 6</a:t>
            </a:r>
            <a:endParaRPr sz="1800" dirty="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Predict in 4-rank scale: 1, 4, 5, 6</a:t>
            </a:r>
            <a:endParaRPr sz="1800" dirty="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Predict in 3-rank scale: 1, (3, 4 and 5), 6</a:t>
            </a:r>
            <a:endParaRPr sz="1800" dirty="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Predict in binary rank scale: 1, (3, 4, 5, and 6)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650" y="558879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dirty="0"/>
              <a:t>What We Tried – Predict Ranks</a:t>
            </a:r>
            <a:endParaRPr sz="3020"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7650" y="1353600"/>
            <a:ext cx="7688700" cy="3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4 Metrics We Used to Scale the Performance of Our Models</a:t>
            </a:r>
            <a:endParaRPr sz="1800" u="sng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(F1, Precision, and Recall are weighted to accommodate uneven class distribution)</a:t>
            </a:r>
            <a:endParaRPr sz="180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Accuracy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F1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Precision  → High precision score indicates avoiding purchasing guides that do not work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Recall → High recall score indicates not missing out of guides that would’ve work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568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dirty="0"/>
              <a:t>Best Approaches and Results</a:t>
            </a:r>
            <a:endParaRPr sz="3020" dirty="0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9450" y="1417175"/>
            <a:ext cx="7971300" cy="8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CNN model yields the best result for 5-rank, 4-rank, 3-rank scales in all 4 metrics and have the same results as Random Forest Classification for binary rank scale.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422600" y="2521025"/>
            <a:ext cx="8278225" cy="1569900"/>
            <a:chOff x="280538" y="2370975"/>
            <a:chExt cx="8278225" cy="1569900"/>
          </a:xfrm>
        </p:grpSpPr>
        <p:sp>
          <p:nvSpPr>
            <p:cNvPr id="113" name="Google Shape;113;p17"/>
            <p:cNvSpPr txBox="1"/>
            <p:nvPr/>
          </p:nvSpPr>
          <p:spPr>
            <a:xfrm>
              <a:off x="280538" y="2370975"/>
              <a:ext cx="17115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u="sng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5-rank scale</a:t>
              </a:r>
              <a:endParaRPr sz="18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Accuracy: 49%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F1: 38% 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Precision: 42%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Recall: 49%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2345046" y="2370975"/>
              <a:ext cx="16917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u="sng" dirty="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4-rank scale</a:t>
              </a:r>
              <a:endParaRPr sz="1800" u="sng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Accuracy: 53%</a:t>
              </a:r>
              <a:endParaRPr sz="1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F1: 44% </a:t>
              </a:r>
              <a:endParaRPr sz="1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Precision: 42%</a:t>
              </a:r>
              <a:endParaRPr sz="1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Recall: 53%</a:t>
              </a:r>
              <a:endParaRPr sz="1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4389754" y="2370975"/>
              <a:ext cx="18330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u="sng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3-rank scale</a:t>
              </a:r>
              <a:endParaRPr sz="18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Accuracy: 55%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F1: 55% 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Precision: 56%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Recall: 54%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6575763" y="2370975"/>
              <a:ext cx="19830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u="sng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Binary rank scale</a:t>
              </a:r>
              <a:endParaRPr sz="18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Accuracy: 81%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F1: 79% 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Precision: 80%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Recall: 81%</a:t>
              </a:r>
              <a:endPara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729450" y="568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Best Approaches and Results</a:t>
            </a:r>
            <a:endParaRPr sz="302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422600" y="3629650"/>
            <a:ext cx="8495100" cy="11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*Null Accuracy: Always guess with the most common rank in the testing dataset.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*Weighted Random Guess: Guess randomly, with probability equal to each rank’s frequency.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422600" y="1410500"/>
          <a:ext cx="8453600" cy="1981050"/>
        </p:xfrm>
        <a:graphic>
          <a:graphicData uri="http://schemas.openxmlformats.org/drawingml/2006/table">
            <a:tbl>
              <a:tblPr>
                <a:noFill/>
                <a:tableStyleId>{1AFEE56B-E278-4F36-8FEF-2B0914971B56}</a:tableStyleId>
              </a:tblPr>
              <a:tblGrid>
                <a:gridCol w="86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Null Accuracy (most common rank)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Random Guess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 Model Accuracy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5-rank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35% (rank 6)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49%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4-rank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37% (rank 6)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53%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3-rank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41% (rank 1)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Binary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76% (rank 1)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535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dirty="0"/>
              <a:t>What We Tried – Predict </a:t>
            </a:r>
            <a:r>
              <a:rPr lang="en" sz="3200" dirty="0"/>
              <a:t>avg T72 log2fc</a:t>
            </a:r>
            <a:endParaRPr sz="302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7650" y="1812401"/>
            <a:ext cx="7688700" cy="2170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/>
              <a:t>Predictive Machine Learning Models We Tried</a:t>
            </a:r>
            <a:endParaRPr sz="1800" u="sng" dirty="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 err="1"/>
              <a:t>XGBoost</a:t>
            </a:r>
            <a:r>
              <a:rPr lang="en-US" sz="1800" dirty="0"/>
              <a:t> Regressor</a:t>
            </a: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Convolutional Neural Network (CNN)</a:t>
            </a: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sz="1800" dirty="0"/>
          </a:p>
          <a:p>
            <a:pPr marL="1143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u="sng" dirty="0"/>
              <a:t>Metrics</a:t>
            </a:r>
          </a:p>
          <a:p>
            <a:pPr marL="400050" indent="-285750">
              <a:lnSpc>
                <a:spcPct val="95000"/>
              </a:lnSpc>
              <a:buSzPts val="1800"/>
            </a:pPr>
            <a:r>
              <a:rPr lang="en-US" sz="1800" dirty="0"/>
              <a:t>Root Mean Square Error (RMSE)</a:t>
            </a:r>
          </a:p>
          <a:p>
            <a:pPr marL="400050" indent="-285750">
              <a:lnSpc>
                <a:spcPct val="95000"/>
              </a:lnSpc>
              <a:buSzPts val="1800"/>
            </a:pPr>
            <a:r>
              <a:rPr lang="en-US" sz="1800" dirty="0"/>
              <a:t>R Squared (R</a:t>
            </a:r>
            <a:r>
              <a:rPr lang="en-US" sz="1800" baseline="30000" dirty="0"/>
              <a:t>2</a:t>
            </a:r>
            <a:r>
              <a:rPr lang="en-US" sz="1800" dirty="0"/>
              <a:t> )</a:t>
            </a:r>
          </a:p>
          <a:p>
            <a:pPr marL="114300" indent="0">
              <a:lnSpc>
                <a:spcPct val="95000"/>
              </a:lnSpc>
              <a:buSzPts val="1800"/>
              <a:buNone/>
            </a:pPr>
            <a:endParaRPr lang="en-US" sz="1800" u="sng" dirty="0"/>
          </a:p>
        </p:txBody>
      </p:sp>
    </p:spTree>
    <p:extLst>
      <p:ext uri="{BB962C8B-B14F-4D97-AF65-F5344CB8AC3E}">
        <p14:creationId xmlns:p14="http://schemas.microsoft.com/office/powerpoint/2010/main" val="219290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5683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dirty="0"/>
              <a:t>Best Approaches and Results</a:t>
            </a:r>
            <a:endParaRPr sz="3020" dirty="0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9450" y="2218685"/>
            <a:ext cx="2586244" cy="7789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00050" indent="-285750">
              <a:lnSpc>
                <a:spcPct val="95000"/>
              </a:lnSpc>
              <a:buSzPts val="1800"/>
            </a:pPr>
            <a:r>
              <a:rPr lang="en-US" sz="1800" dirty="0"/>
              <a:t>RMSE: 3.91</a:t>
            </a:r>
          </a:p>
          <a:p>
            <a:pPr marL="400050" indent="-285750">
              <a:lnSpc>
                <a:spcPct val="95000"/>
              </a:lnSpc>
              <a:buSzPts val="1800"/>
            </a:pPr>
            <a:r>
              <a:rPr lang="en-US" sz="1800" dirty="0"/>
              <a:t>R</a:t>
            </a:r>
            <a:r>
              <a:rPr lang="en-US" sz="1800" baseline="30000" dirty="0"/>
              <a:t>2</a:t>
            </a:r>
            <a:r>
              <a:rPr lang="en-US" sz="1800" dirty="0"/>
              <a:t>: 0.35</a:t>
            </a:r>
            <a:endParaRPr lang="en-US" sz="7200" dirty="0"/>
          </a:p>
        </p:txBody>
      </p:sp>
      <p:pic>
        <p:nvPicPr>
          <p:cNvPr id="3" name="Picture 2" descr="A graph showing a loss of a number of indicators&#10;&#10;Description automatically generated with medium confidence">
            <a:extLst>
              <a:ext uri="{FF2B5EF4-FFF2-40B4-BE49-F238E27FC236}">
                <a16:creationId xmlns:a16="http://schemas.microsoft.com/office/drawing/2014/main" id="{40BAB355-D87D-4D2E-72B8-D56A453F5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346" y="2146498"/>
            <a:ext cx="4857254" cy="24286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23C17-BED8-C2D1-6542-E2137705BCD2}"/>
              </a:ext>
            </a:extLst>
          </p:cNvPr>
          <p:cNvSpPr txBox="1"/>
          <p:nvPr/>
        </p:nvSpPr>
        <p:spPr>
          <a:xfrm>
            <a:off x="729450" y="1440370"/>
            <a:ext cx="676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XGBoost</a:t>
            </a:r>
            <a:r>
              <a:rPr lang="en-US" sz="18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Regressor yields the best RMSE and R</a:t>
            </a:r>
            <a:r>
              <a:rPr lang="en-US" sz="1800" baseline="300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en-US" sz="18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scores.</a:t>
            </a:r>
          </a:p>
        </p:txBody>
      </p:sp>
    </p:spTree>
    <p:extLst>
      <p:ext uri="{BB962C8B-B14F-4D97-AF65-F5344CB8AC3E}">
        <p14:creationId xmlns:p14="http://schemas.microsoft.com/office/powerpoint/2010/main" val="2604852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7650" y="5600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Explainable AI </a:t>
            </a:r>
            <a:r>
              <a:rPr lang="en" sz="2800" dirty="0"/>
              <a:t>–</a:t>
            </a:r>
            <a:r>
              <a:rPr lang="en" sz="3000" dirty="0"/>
              <a:t> LIME</a:t>
            </a:r>
            <a:endParaRPr sz="3000"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7650" y="1496881"/>
            <a:ext cx="7688700" cy="29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dirty="0"/>
              <a:t>Models Used</a:t>
            </a:r>
          </a:p>
          <a:p>
            <a:pPr marL="400050" indent="-285750">
              <a:buSzPts val="1800"/>
            </a:pPr>
            <a:r>
              <a:rPr lang="en-US" sz="1800" dirty="0"/>
              <a:t>Rank prediction models (</a:t>
            </a:r>
            <a:r>
              <a:rPr lang="en" sz="1800" dirty="0"/>
              <a:t>Predict in 4-rank scale</a:t>
            </a:r>
            <a:r>
              <a:rPr lang="en-US" sz="1800" dirty="0"/>
              <a:t>)</a:t>
            </a:r>
          </a:p>
          <a:p>
            <a:pPr marL="857250" lvl="1" indent="-285750">
              <a:buSzPts val="1800"/>
            </a:pPr>
            <a:r>
              <a:rPr lang="en-US" sz="1800" dirty="0"/>
              <a:t>Random Forest Classification</a:t>
            </a:r>
          </a:p>
          <a:p>
            <a:pPr marL="857250" lvl="1" indent="-285750">
              <a:buSzPts val="1800"/>
            </a:pPr>
            <a:r>
              <a:rPr lang="en-US" sz="1800" dirty="0"/>
              <a:t>1D CNN Classification</a:t>
            </a:r>
            <a:br>
              <a:rPr lang="en-US" sz="1800" dirty="0"/>
            </a:br>
            <a:endParaRPr lang="en-US" sz="1800" dirty="0"/>
          </a:p>
          <a:p>
            <a:pPr marL="114300" indent="0">
              <a:buSzPts val="1800"/>
              <a:buNone/>
            </a:pPr>
            <a:r>
              <a:rPr lang="en-US" sz="1800" dirty="0"/>
              <a:t>No single feature shows a dominant influence across both models; however, ‘Runs of Ts’ and ‘Pos_9’ (position 9) consistently exhibit slightly higher influence compared to the other features.</a:t>
            </a:r>
          </a:p>
        </p:txBody>
      </p:sp>
    </p:spTree>
    <p:extLst>
      <p:ext uri="{BB962C8B-B14F-4D97-AF65-F5344CB8AC3E}">
        <p14:creationId xmlns:p14="http://schemas.microsoft.com/office/powerpoint/2010/main" val="115658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727650" y="5767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Ideas of Approaches to Try Next</a:t>
            </a:r>
            <a:endParaRPr sz="3020"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727650" y="1311925"/>
            <a:ext cx="7688700" cy="34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/>
              <a:t>Ideas to Build Upon </a:t>
            </a:r>
            <a:r>
              <a:rPr lang="en-US" sz="1800" u="sng" dirty="0"/>
              <a:t>Already</a:t>
            </a:r>
            <a:r>
              <a:rPr lang="en" sz="1800" u="sng" dirty="0"/>
              <a:t> Built Models</a:t>
            </a:r>
            <a:endParaRPr sz="1800" u="sng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Try 2D max pooling for CNN model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Alpha fold + CNN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u="sng" dirty="0"/>
              <a:t>New Models to Try Next</a:t>
            </a:r>
            <a:endParaRPr sz="1800" u="sng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Support Vector Machine (SVM)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Long Short-Term Memory (LSTM)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Transformers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720</Words>
  <Application>Microsoft Macintosh PowerPoint</Application>
  <PresentationFormat>On-screen Show (16:9)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Lato</vt:lpstr>
      <vt:lpstr>Calibri</vt:lpstr>
      <vt:lpstr>Raleway</vt:lpstr>
      <vt:lpstr>Arial</vt:lpstr>
      <vt:lpstr>Streamline</vt:lpstr>
      <vt:lpstr>Update Meeting</vt:lpstr>
      <vt:lpstr>Features Included In The Dataset</vt:lpstr>
      <vt:lpstr>What We Tried – Predict Ranks</vt:lpstr>
      <vt:lpstr>What We Tried – Predict Ranks</vt:lpstr>
      <vt:lpstr>Best Approaches and Results</vt:lpstr>
      <vt:lpstr>Best Approaches and Results</vt:lpstr>
      <vt:lpstr>What We Tried – Predict avg T72 log2fc</vt:lpstr>
      <vt:lpstr>Best Approaches and Results</vt:lpstr>
      <vt:lpstr>Explainable AI – LIME</vt:lpstr>
      <vt:lpstr>Ideas of Approaches to Try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Meeting</dc:title>
  <cp:lastModifiedBy>Eileen Chen</cp:lastModifiedBy>
  <cp:revision>7</cp:revision>
  <dcterms:modified xsi:type="dcterms:W3CDTF">2025-07-22T17:00:31Z</dcterms:modified>
</cp:coreProperties>
</file>